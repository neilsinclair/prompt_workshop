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703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0" r:id="rId6"/>
    <p:sldId id="271" r:id="rId7"/>
    <p:sldId id="273" r:id="rId8"/>
    <p:sldId id="304" r:id="rId9"/>
    <p:sldId id="305" r:id="rId10"/>
    <p:sldId id="308" r:id="rId11"/>
    <p:sldId id="309" r:id="rId12"/>
    <p:sldId id="288" r:id="rId13"/>
    <p:sldId id="303" r:id="rId14"/>
    <p:sldId id="274" r:id="rId15"/>
    <p:sldId id="299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9" r:id="rId26"/>
    <p:sldId id="290" r:id="rId27"/>
    <p:sldId id="291" r:id="rId28"/>
    <p:sldId id="294" r:id="rId29"/>
    <p:sldId id="297" r:id="rId30"/>
    <p:sldId id="300" r:id="rId31"/>
    <p:sldId id="301" r:id="rId32"/>
    <p:sldId id="302" r:id="rId33"/>
    <p:sldId id="298" r:id="rId34"/>
    <p:sldId id="292" r:id="rId35"/>
    <p:sldId id="307" r:id="rId36"/>
    <p:sldId id="306" r:id="rId37"/>
    <p:sldId id="267" r:id="rId38"/>
  </p:sldIdLst>
  <p:sldSz cx="12192000" cy="6858000"/>
  <p:notesSz cx="6858000" cy="9144000"/>
  <p:embeddedFontLst>
    <p:embeddedFont>
      <p:font typeface="Campton Book" pitchFamily="2" charset="77"/>
      <p:regular r:id="rId41"/>
      <p:bold r:id="rId42"/>
    </p:embeddedFont>
    <p:embeddedFont>
      <p:font typeface="Campton Light" pitchFamily="2" charset="77"/>
      <p:regular r:id="rId43"/>
      <p:italic r:id="rId44"/>
    </p:embeddedFont>
    <p:embeddedFont>
      <p:font typeface="Inter" panose="020B0604020202020204" pitchFamily="34" charset="0"/>
      <p:regular r:id="rId45"/>
      <p:bold r:id="rId46"/>
      <p:italic r:id="rId47"/>
      <p:boldItalic r:id="rId48"/>
    </p:embeddedFont>
  </p:embeddedFontLst>
  <p:custDataLst>
    <p:tags r:id="rId49"/>
  </p:custData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EB882476-13DF-43FC-A5D7-F06BF3A3CA73}">
          <p14:sldIdLst>
            <p14:sldId id="256"/>
            <p14:sldId id="270"/>
            <p14:sldId id="271"/>
            <p14:sldId id="273"/>
            <p14:sldId id="304"/>
            <p14:sldId id="305"/>
            <p14:sldId id="308"/>
            <p14:sldId id="309"/>
            <p14:sldId id="288"/>
            <p14:sldId id="303"/>
            <p14:sldId id="274"/>
            <p14:sldId id="299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9"/>
            <p14:sldId id="290"/>
            <p14:sldId id="291"/>
            <p14:sldId id="294"/>
            <p14:sldId id="297"/>
            <p14:sldId id="300"/>
            <p14:sldId id="301"/>
            <p14:sldId id="302"/>
            <p14:sldId id="298"/>
            <p14:sldId id="292"/>
            <p14:sldId id="307"/>
            <p14:sldId id="306"/>
          </p14:sldIdLst>
        </p14:section>
        <p14:section name="Content" id="{FDBC23EF-1EE0-4ADA-8030-948DAB6A80E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4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915517-C499-7745-B3C5-10988006A363}" v="4" dt="2025-01-20T08:48:54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12" autoAdjust="0"/>
    <p:restoredTop sz="87626" autoAdjust="0"/>
  </p:normalViewPr>
  <p:slideViewPr>
    <p:cSldViewPr snapToGrid="0" showGuides="1">
      <p:cViewPr varScale="1">
        <p:scale>
          <a:sx n="105" d="100"/>
          <a:sy n="105" d="100"/>
        </p:scale>
        <p:origin x="1312" y="184"/>
      </p:cViewPr>
      <p:guideLst>
        <p:guide pos="3840"/>
        <p:guide orient="horz" pos="2478"/>
      </p:guideLst>
    </p:cSldViewPr>
  </p:slideViewPr>
  <p:outlineViewPr>
    <p:cViewPr>
      <p:scale>
        <a:sx n="33" d="100"/>
        <a:sy n="33" d="100"/>
      </p:scale>
      <p:origin x="0" y="-34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font" Target="fonts/font5.fntdata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4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6.fntdata"/><Relationship Id="rId20" Type="http://schemas.openxmlformats.org/officeDocument/2006/relationships/slide" Target="slides/slide16.xml"/><Relationship Id="rId41" Type="http://schemas.openxmlformats.org/officeDocument/2006/relationships/font" Target="fonts/font1.fntdata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Sinclair" userId="eed6fa08-5685-4c32-b349-4e9ee1874eeb" providerId="ADAL" clId="{4E915517-C499-7745-B3C5-10988006A363}"/>
    <pc:docChg chg="undo redo custSel modSld">
      <pc:chgData name="Neil Sinclair" userId="eed6fa08-5685-4c32-b349-4e9ee1874eeb" providerId="ADAL" clId="{4E915517-C499-7745-B3C5-10988006A363}" dt="2025-01-20T11:39:34.210" v="105"/>
      <pc:docMkLst>
        <pc:docMk/>
      </pc:docMkLst>
      <pc:sldChg chg="modSp mod">
        <pc:chgData name="Neil Sinclair" userId="eed6fa08-5685-4c32-b349-4e9ee1874eeb" providerId="ADAL" clId="{4E915517-C499-7745-B3C5-10988006A363}" dt="2025-01-20T11:39:23.154" v="104" actId="20577"/>
        <pc:sldMkLst>
          <pc:docMk/>
          <pc:sldMk cId="3038400967" sldId="273"/>
        </pc:sldMkLst>
        <pc:spChg chg="mod">
          <ac:chgData name="Neil Sinclair" userId="eed6fa08-5685-4c32-b349-4e9ee1874eeb" providerId="ADAL" clId="{4E915517-C499-7745-B3C5-10988006A363}" dt="2025-01-20T11:39:23.154" v="104" actId="20577"/>
          <ac:spMkLst>
            <pc:docMk/>
            <pc:sldMk cId="3038400967" sldId="273"/>
            <ac:spMk id="3" creationId="{0118E2CA-9405-DEE7-37EB-60593EE851FB}"/>
          </ac:spMkLst>
        </pc:spChg>
      </pc:sldChg>
      <pc:sldChg chg="modSp mod">
        <pc:chgData name="Neil Sinclair" userId="eed6fa08-5685-4c32-b349-4e9ee1874eeb" providerId="ADAL" clId="{4E915517-C499-7745-B3C5-10988006A363}" dt="2025-01-20T11:39:01.501" v="92" actId="20577"/>
        <pc:sldMkLst>
          <pc:docMk/>
          <pc:sldMk cId="82530567" sldId="304"/>
        </pc:sldMkLst>
        <pc:spChg chg="mod">
          <ac:chgData name="Neil Sinclair" userId="eed6fa08-5685-4c32-b349-4e9ee1874eeb" providerId="ADAL" clId="{4E915517-C499-7745-B3C5-10988006A363}" dt="2025-01-20T11:39:01.501" v="92" actId="20577"/>
          <ac:spMkLst>
            <pc:docMk/>
            <pc:sldMk cId="82530567" sldId="304"/>
            <ac:spMk id="6" creationId="{06B5A7DA-9D34-7DF3-AB84-E7F8114AD492}"/>
          </ac:spMkLst>
        </pc:spChg>
      </pc:sldChg>
      <pc:sldChg chg="modSp mod">
        <pc:chgData name="Neil Sinclair" userId="eed6fa08-5685-4c32-b349-4e9ee1874eeb" providerId="ADAL" clId="{4E915517-C499-7745-B3C5-10988006A363}" dt="2025-01-20T11:32:06.793" v="17" actId="20577"/>
        <pc:sldMkLst>
          <pc:docMk/>
          <pc:sldMk cId="4041483951" sldId="305"/>
        </pc:sldMkLst>
        <pc:spChg chg="mod">
          <ac:chgData name="Neil Sinclair" userId="eed6fa08-5685-4c32-b349-4e9ee1874eeb" providerId="ADAL" clId="{4E915517-C499-7745-B3C5-10988006A363}" dt="2025-01-20T11:32:06.793" v="17" actId="20577"/>
          <ac:spMkLst>
            <pc:docMk/>
            <pc:sldMk cId="4041483951" sldId="305"/>
            <ac:spMk id="6" creationId="{04DEECD4-5225-A978-8CEB-0D71DD8C3B2E}"/>
          </ac:spMkLst>
        </pc:spChg>
      </pc:sldChg>
      <pc:sldChg chg="modSp mod">
        <pc:chgData name="Neil Sinclair" userId="eed6fa08-5685-4c32-b349-4e9ee1874eeb" providerId="ADAL" clId="{4E915517-C499-7745-B3C5-10988006A363}" dt="2025-01-20T11:32:02.657" v="11" actId="20577"/>
        <pc:sldMkLst>
          <pc:docMk/>
          <pc:sldMk cId="394078337" sldId="308"/>
        </pc:sldMkLst>
        <pc:spChg chg="mod">
          <ac:chgData name="Neil Sinclair" userId="eed6fa08-5685-4c32-b349-4e9ee1874eeb" providerId="ADAL" clId="{4E915517-C499-7745-B3C5-10988006A363}" dt="2025-01-20T11:32:02.657" v="11" actId="20577"/>
          <ac:spMkLst>
            <pc:docMk/>
            <pc:sldMk cId="394078337" sldId="308"/>
            <ac:spMk id="6" creationId="{D5646FFF-EB8C-C979-4B97-2FA354D9CF2D}"/>
          </ac:spMkLst>
        </pc:spChg>
      </pc:sldChg>
      <pc:sldChg chg="modSp mod">
        <pc:chgData name="Neil Sinclair" userId="eed6fa08-5685-4c32-b349-4e9ee1874eeb" providerId="ADAL" clId="{4E915517-C499-7745-B3C5-10988006A363}" dt="2025-01-20T11:39:34.210" v="105"/>
        <pc:sldMkLst>
          <pc:docMk/>
          <pc:sldMk cId="2318111256" sldId="309"/>
        </pc:sldMkLst>
        <pc:spChg chg="mod">
          <ac:chgData name="Neil Sinclair" userId="eed6fa08-5685-4c32-b349-4e9ee1874eeb" providerId="ADAL" clId="{4E915517-C499-7745-B3C5-10988006A363}" dt="2025-01-20T11:39:34.210" v="105"/>
          <ac:spMkLst>
            <pc:docMk/>
            <pc:sldMk cId="2318111256" sldId="309"/>
            <ac:spMk id="6" creationId="{FB5DBA83-8D7C-69DD-8EBB-90199B6CA9D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9FA6B-F77F-BDC1-937B-D7E5B8D6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876275-853E-77C6-C96D-2748419267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C920D-89CD-4B9C-AD27-DA018A11FD76}" type="datetimeFigureOut">
              <a:rPr lang="en-US" smtClean="0"/>
              <a:t>1/20/25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3F89BA-07EB-604D-C9EC-C485475800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diconium | public/internal/confidential/strictly confidential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D059F8-24B3-7EB5-2E7D-7C30912654D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20692-A7EA-458F-9AE0-1346456A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8428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9DBD115-8383-5543-9AEA-A2FF5713F35D}" type="datetimeFigureOut">
              <a:rPr lang="en-GB" smtClean="0"/>
              <a:pPr/>
              <a:t>20/01/2025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3DDD299-AE59-4B43-A12B-4D87F497F5F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4140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77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2281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4994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91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349E-B9C3-9AE9-2D2E-58CF88CE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3795D-5CCE-48BE-9A74-26C5CC5E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FDA94-744D-22A1-2569-6E2697939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37C87-930E-7ED7-D995-3EB8463C2D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0AAC9-CA40-E381-1F3B-E62520491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4555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93330-73C3-67D8-C11A-90B197D7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CFEFF-054C-0A3E-A5F5-94A7E2DDC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5932A-26BD-86DD-0185-CB68310D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52B58-7430-93C8-B113-18635A535A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356AA-AE5A-22B5-8A03-EEE573B03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624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853D-DE59-AE72-C3AB-EFD9EC4E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2C289-6401-A480-1B3E-884601303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C5710-223A-8E25-D6B1-AA1526C96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6E4D6-A572-B788-065E-C748459312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BAC30-AA3A-13AB-EBA8-3EA215193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0852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8344-2FAD-9B09-15CC-283C5052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3FA1-B306-5A80-7DCE-204D6E8E7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E13C5-8616-C758-DDCF-01895B98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A77D5-07DF-61D1-5303-993D7864E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40FC50-D5D8-AC69-AC85-BA67494D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8873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52C8-48F4-FE2B-A59B-13F0349A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EB107-829E-3522-814A-6B9E0796F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6331F-F152-6938-9079-2A7F4FA42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999DF7-F086-82AE-4466-8D76F2D8DC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3D10EE-1E71-0C91-A2F8-A32040E2E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4635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D65B-322A-D4C8-1ED1-194FCE26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B79CC-134A-9B57-419F-1EDFDDE9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63A18-CA43-8F67-1222-8F16C3724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8AB39-1A90-9161-EDD8-60F178D620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0CD-FEEF-A527-5C5D-D7557325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21243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80D21-FEF8-60E2-764A-985EEB023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AE4F3-F648-F9A7-1DC7-C0207D453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6B690-A734-494B-C96D-75A484742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5B593-4C5E-97C9-A7FB-060C9FE0874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61CB32-4E10-5D7F-513E-889EE3DA3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66449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D2B8-B968-22F8-BC43-A3140A61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6A689-4071-B300-5DF8-17AF98D63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BF56F-07BD-35F5-57BD-1258D065C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066462-50CB-ADAB-79BC-03D5CB23147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10ADE-767B-E71B-35D7-DA00F219E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8793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3CC0-AA15-238B-72F1-372323E4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B8CC-EC72-BDB7-53A3-C4690034E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1F96D-9D4C-6323-7E5B-2710D15E7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46E2D-5C0F-2ECD-249C-3F4856696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CC053-0CD6-0196-5626-CF420EC8A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0222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70DD-44E8-E9B4-7F77-F29F2E284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E0EF02-958C-ACC4-46D3-F4027D637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637B0-7283-A738-141C-148A6FAA6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7FAC5A-66D7-D2B1-4704-532614E2432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04255-677D-D287-51B2-25586C039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17417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149DF-7FEB-0663-3574-17E09DEE8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47A60-E7CA-6CAB-9F38-3057206B0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811AB-5BFA-51A7-660C-AAA8523BA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8D7CCA-2EE0-B1F5-D70A-E7115F1F2EF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2853F7-793F-B2EB-4D41-47EC31BC2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84076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6B9E-1F8E-129E-6016-E1E9944D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75C5-1036-F720-87C0-DE30AF6A8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BC2D-5E70-EFC2-B304-C6C323AD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643A-2A59-70E8-16F2-605307D9C0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4A9F-8753-D4EE-B411-F1CFFB57C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14803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7E1A-FA22-4C14-6AD5-7F822C12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C9C9C-F56C-8F75-5E33-BB94A0AD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E05FF-8023-321E-7BD3-EC2E3D18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99989-335E-FBEB-5F56-3838D92333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A9ADD-F59B-61C0-E60C-0799522F3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5017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025B-236F-8353-81B8-8775A3E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77BE3-1D75-96AB-96D1-716DC3F5B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70C5F-9478-43A5-C2E5-280C18E07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18524-276E-3B1A-9186-AF6406CA868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8422-10C0-3DCB-F76A-17C0AE57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06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09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tur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6EAE418-5545-384D-9111-DDD82FE874E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F1D7C9-DF2D-B939-760E-04699C6D8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 bIns="0" anchor="t" anchorCtr="0"/>
          <a:lstStyle>
            <a:lvl1pPr algn="l">
              <a:defRPr sz="340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C1AA3-D566-8678-5BD7-857CE7D9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1400" cap="none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DD46F9-0AA3-9E03-3D1E-C4965ACED7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4B2EF2-E608-F4E1-E3F3-48803175E7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E7746C-FE0A-1493-85BE-B26E20B232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9CDBC1-80F0-8240-8737-4A599038544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31AC87E-0CFB-1788-E099-44C46371BC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0000" y="4055533"/>
            <a:ext cx="6131400" cy="28733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/>
              <a:t>Insert date here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572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Oran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F4D2F12-9935-2EBB-70C0-73856984960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42D54EA-9297-FDB7-12C6-2566F565743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0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4E4F5E4-550F-1B7A-DEB9-49F4066D989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1295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9518A-4D03-8E30-1B14-F44954A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D7B7-69F1-E5C4-ED3E-EF2FB1E1B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745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362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Le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E9727080-1EAE-8C64-E071-4BC88F2ED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84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727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D0FB79D0-EB61-E355-C332-9EDB1E3B7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698C737-394F-3ECD-DE99-53F21B86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3743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940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7D6F-7A50-B555-48A9-CA017434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F8A8C-E4AA-0BCB-056B-416603789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7289F-E1EF-CB93-3752-72857EB39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AC3AE-CE2E-038C-CE1E-2DA9624D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B7C0-A224-267C-DAE6-5E6A36B4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672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5680-38F7-11F0-0FAD-4C7C98092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56A81-3B6B-D8BA-936F-2CBF79AB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5C7C1B-91F9-2396-6F5B-2B58A8A6D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2380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36FBF-071D-ACAB-8F54-F0C81F483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2380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2891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C57E583-F1FC-C019-CB30-1F0D95A7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96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1E240CF0-9A09-E5C3-9C9D-19327BD01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96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AAC3B7C-27E6-85AD-9D3B-19C412AA39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9791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577D4898-6B21-D834-B2DC-E504C40FD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9791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C49C9A4-0AE9-ACFA-8F43-EFB57D911A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6400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3807C2D-39B4-123E-33C3-61859A52D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06400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05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  <a:lvl2pPr marL="18000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5580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66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E386C1B-11B7-C38E-EABF-C656486EC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A8CDAE0-BF70-56C7-A30A-C1275A67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28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82642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C646-FD69-E031-AEC4-1CBFD8944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0" y="1954800"/>
            <a:ext cx="6945463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07845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E42B5E5-DC7C-AB0C-F628-E477520930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232400" y="1952625"/>
            <a:ext cx="4643438" cy="4105276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B3C81D-39C6-69BE-90FE-A7B35AB8F7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3897200" cy="3702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47EC34F-D633-5C91-8624-1A2D415C2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49400" y="2155630"/>
            <a:ext cx="3897200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8381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098588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6519E6-5A65-145C-DBEB-3E2CC0F38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24726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F7EC-398C-7188-5CA5-972FE0310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4108602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0510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028400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-&#10;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3">
            <a:extLst>
              <a:ext uri="{FF2B5EF4-FFF2-40B4-BE49-F238E27FC236}">
                <a16:creationId xmlns:a16="http://schemas.microsoft.com/office/drawing/2014/main" id="{F9A85FA2-79A8-98EA-624F-3854218503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EC5ACC-66FC-6F6B-10DB-50F0F2302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B50B6-F125-185F-FF2D-1C1F9FD8A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5C62-CC9B-B83B-79B5-71CFBA783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15" name="Graphic 10">
            <a:extLst>
              <a:ext uri="{FF2B5EF4-FFF2-40B4-BE49-F238E27FC236}">
                <a16:creationId xmlns:a16="http://schemas.microsoft.com/office/drawing/2014/main" id="{D43611D6-0C35-3931-1C46-6347DE43C23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01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594DC5-3D58-AA54-F344-219139663A9C}"/>
              </a:ext>
            </a:extLst>
          </p:cNvPr>
          <p:cNvSpPr/>
          <p:nvPr userDrawn="1"/>
        </p:nvSpPr>
        <p:spPr>
          <a:xfrm>
            <a:off x="7535863" y="0"/>
            <a:ext cx="46561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933F5599-5FCE-E9F2-0433-D702CF496840}"/>
              </a:ext>
            </a:extLst>
          </p:cNvPr>
          <p:cNvSpPr/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BDC7B0F4-7B2A-EF8B-F3B4-9B26127A778C}"/>
              </a:ext>
            </a:extLst>
          </p:cNvPr>
          <p:cNvSpPr/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74490AF-6F17-0375-82A8-79D41DBE78C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6219857-6F46-56D3-BA06-3AFA7DFD5907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30175ED-EFB8-61DD-FE8D-4F0ED0B5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B1186E4-DA4B-786C-5C02-9B41886B3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6108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88673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A9710-0A8E-1FE9-F842-76F552422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8557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820220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, Content and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89748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8153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060807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52162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47182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98793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2022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97044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355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12465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25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76239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3310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003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/>
            </a:lvl1pPr>
            <a:lvl2pPr marL="216000" indent="-108000">
              <a:defRPr sz="1200"/>
            </a:lvl2pPr>
            <a:lvl3pPr marL="324000" indent="-108000">
              <a:defRPr sz="1200"/>
            </a:lvl3pPr>
            <a:lvl4pPr marL="432000" indent="-108000">
              <a:defRPr sz="1200"/>
            </a:lvl4pPr>
            <a:lvl5pPr marL="540000" indent="-108000"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pic>
        <p:nvPicPr>
          <p:cNvPr id="5" name="Graphic 8">
            <a:extLst>
              <a:ext uri="{FF2B5EF4-FFF2-40B4-BE49-F238E27FC236}">
                <a16:creationId xmlns:a16="http://schemas.microsoft.com/office/drawing/2014/main" id="{35C4196B-BE6C-3F49-E000-EAE221E020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CAF139-F5A4-76C6-AC25-CA2FB5F4D8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>
                <a:solidFill>
                  <a:schemeClr val="bg1"/>
                </a:solidFill>
              </a:defRPr>
            </a:lvl1pPr>
            <a:lvl2pPr marL="216000" indent="-108000">
              <a:defRPr sz="1200">
                <a:solidFill>
                  <a:schemeClr val="bg1"/>
                </a:solidFill>
              </a:defRPr>
            </a:lvl2pPr>
            <a:lvl3pPr marL="324000" indent="-108000">
              <a:defRPr sz="1200">
                <a:solidFill>
                  <a:schemeClr val="bg1"/>
                </a:solidFill>
              </a:defRPr>
            </a:lvl3pPr>
            <a:lvl4pPr marL="432000" indent="-108000">
              <a:defRPr sz="1200">
                <a:solidFill>
                  <a:schemeClr val="bg1"/>
                </a:solidFill>
              </a:defRPr>
            </a:lvl4pPr>
            <a:lvl5pPr marL="540000" indent="-108000"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4568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7D631-F89F-760C-69B6-FB46346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CF84E-2039-8799-F6F2-3D3D31FA0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D7A8-9F31-F16C-3031-2BF7C9BE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5D02-D681-B777-41FA-27545CC1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81362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1EE1A3-EA1D-E14B-3CC1-391FB99D4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6400" y="626400"/>
            <a:ext cx="1152000" cy="5432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15833-919F-8135-57CA-75E3E02F7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6400" y="626400"/>
            <a:ext cx="7984800" cy="5432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BBD7-7474-CC6E-5EC9-A6CDD3B78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27550-0A91-20F3-FD4C-DFDC19F3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429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2E277-5753-1406-68D7-A33B3AB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405A-9B05-B1B6-1D44-86354DE90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6945463" cy="4103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B31A-5072-D7F3-70F4-41F777454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0398" y="6367950"/>
            <a:ext cx="6480000" cy="180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lnSpc>
                <a:spcPct val="100000"/>
              </a:lnSpc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266E9-705A-109B-5715-FFCC44DFB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0525" y="6367950"/>
            <a:ext cx="54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E8C6F-B69C-0849-88CC-95939091005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69FA21-BA0D-32A9-299C-30DBE41CF43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3BE5B8-C935-8671-CE76-C5671EFABFB6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8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05" r:id="rId2"/>
    <p:sldLayoutId id="2147483704" r:id="rId3"/>
    <p:sldLayoutId id="2147483713" r:id="rId4"/>
    <p:sldLayoutId id="2147483722" r:id="rId5"/>
    <p:sldLayoutId id="2147483714" r:id="rId6"/>
    <p:sldLayoutId id="2147483707" r:id="rId7"/>
    <p:sldLayoutId id="2147483723" r:id="rId8"/>
    <p:sldLayoutId id="2147483721" r:id="rId9"/>
    <p:sldLayoutId id="2147483710" r:id="rId10"/>
    <p:sldLayoutId id="2147483711" r:id="rId11"/>
    <p:sldLayoutId id="2147483712" r:id="rId12"/>
    <p:sldLayoutId id="2147483708" r:id="rId13"/>
    <p:sldLayoutId id="2147483725" r:id="rId14"/>
    <p:sldLayoutId id="2147483724" r:id="rId15"/>
    <p:sldLayoutId id="2147483730" r:id="rId16"/>
    <p:sldLayoutId id="2147483731" r:id="rId17"/>
    <p:sldLayoutId id="2147483732" r:id="rId18"/>
    <p:sldLayoutId id="2147483733" r:id="rId19"/>
    <p:sldLayoutId id="2147483734" r:id="rId20"/>
    <p:sldLayoutId id="2147483735" r:id="rId21"/>
    <p:sldLayoutId id="2147483736" r:id="rId22"/>
    <p:sldLayoutId id="2147483729" r:id="rId23"/>
    <p:sldLayoutId id="2147483709" r:id="rId24"/>
    <p:sldLayoutId id="2147483726" r:id="rId25"/>
    <p:sldLayoutId id="2147483727" r:id="rId26"/>
    <p:sldLayoutId id="2147483741" r:id="rId27"/>
    <p:sldLayoutId id="2147483728" r:id="rId28"/>
    <p:sldLayoutId id="2147483737" r:id="rId29"/>
    <p:sldLayoutId id="2147483716" r:id="rId30"/>
    <p:sldLayoutId id="2147483740" r:id="rId31"/>
    <p:sldLayoutId id="2147483739" r:id="rId32"/>
    <p:sldLayoutId id="2147483742" r:id="rId33"/>
    <p:sldLayoutId id="2147483743" r:id="rId34"/>
    <p:sldLayoutId id="2147483744" r:id="rId35"/>
    <p:sldLayoutId id="2147483745" r:id="rId36"/>
    <p:sldLayoutId id="2147483746" r:id="rId37"/>
    <p:sldLayoutId id="2147483747" r:id="rId38"/>
    <p:sldLayoutId id="2147483748" r:id="rId39"/>
    <p:sldLayoutId id="2147483749" r:id="rId40"/>
    <p:sldLayoutId id="2147483750" r:id="rId41"/>
    <p:sldLayoutId id="2147483715" r:id="rId42"/>
    <p:sldLayoutId id="2147483738" r:id="rId43"/>
    <p:sldLayoutId id="2147483718" r:id="rId44"/>
    <p:sldLayoutId id="2147483719" r:id="rId4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baseline="0">
          <a:solidFill>
            <a:schemeClr val="tx1"/>
          </a:solidFill>
          <a:latin typeface="Campton Book" panose="00000500000000000000" pitchFamily="50" charset="0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" pos="370" userDrawn="1">
          <p15:clr>
            <a:srgbClr val="F26B43"/>
          </p15:clr>
        </p15:guide>
        <p15:guide id="10" pos="4747" userDrawn="1">
          <p15:clr>
            <a:srgbClr val="F26B43"/>
          </p15:clr>
        </p15:guide>
        <p15:guide id="11" pos="3296" userDrawn="1">
          <p15:clr>
            <a:srgbClr val="F26B43"/>
          </p15:clr>
        </p15:guide>
        <p15:guide id="12" pos="6221" userDrawn="1">
          <p15:clr>
            <a:srgbClr val="F26B43"/>
          </p15:clr>
        </p15:guide>
        <p15:guide id="13" pos="7446" userDrawn="1">
          <p15:clr>
            <a:srgbClr val="F26B43"/>
          </p15:clr>
        </p15:guide>
        <p15:guide id="14" orient="horz" pos="391" userDrawn="1">
          <p15:clr>
            <a:srgbClr val="F26B43"/>
          </p15:clr>
        </p15:guide>
        <p15:guide id="15" orient="horz" pos="1230" userDrawn="1">
          <p15:clr>
            <a:srgbClr val="F26B43"/>
          </p15:clr>
        </p15:guide>
        <p15:guide id="1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37DC-B9AD-3B5B-2632-A7625436C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/>
          <a:lstStyle/>
          <a:p>
            <a:r>
              <a:rPr lang="en-DE" dirty="0"/>
              <a:t>STIHL AI Teach In: Prompt Engineering Workshop</a:t>
            </a:r>
            <a:endParaRPr lang="en-US" dirty="0"/>
          </a:p>
        </p:txBody>
      </p:sp>
      <p:sp>
        <p:nvSpPr>
          <p:cNvPr id="17" name="Untertitel 16">
            <a:extLst>
              <a:ext uri="{FF2B5EF4-FFF2-40B4-BE49-F238E27FC236}">
                <a16:creationId xmlns:a16="http://schemas.microsoft.com/office/drawing/2014/main" id="{BF9DBCC4-5285-94AE-D7F0-C3AF7F320E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A Use Case Based Approach</a:t>
            </a:r>
          </a:p>
          <a:p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95ABC-2F18-A80A-BC43-9A1E29844F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90398" y="6367950"/>
            <a:ext cx="6480000" cy="180000"/>
          </a:xfrm>
        </p:spPr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AA565-7CBD-941E-5B11-58DBC6046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80525" y="6367950"/>
            <a:ext cx="540000" cy="180000"/>
          </a:xfrm>
        </p:spPr>
        <p:txBody>
          <a:bodyPr/>
          <a:lstStyle/>
          <a:p>
            <a:fld id="{B77E8C6F-B69C-0849-88CC-95939091005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EA4CA960-7A16-9941-3B9A-25250E6015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21 January 2025, Waiblingen</a:t>
            </a:r>
          </a:p>
        </p:txBody>
      </p:sp>
    </p:spTree>
    <p:extLst>
      <p:ext uri="{BB962C8B-B14F-4D97-AF65-F5344CB8AC3E}">
        <p14:creationId xmlns:p14="http://schemas.microsoft.com/office/powerpoint/2010/main" val="26474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B83CDB4-30ED-0041-54F1-5C5D731D6D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AB76E2-42CB-6BF2-A7AA-CF74D93B7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What We’ll Cover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E6E29-60ED-9EC3-8018-403048F6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AC9B6-F87D-54AC-EFBA-8434E2B47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FC74D1-0244-C998-5EBB-C2E0E7950A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895445A8-4B96-488D-C87F-57C35AE423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567" r="39684" b="1153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297617-84F3-4A96-774B-3B9596344609}"/>
              </a:ext>
            </a:extLst>
          </p:cNvPr>
          <p:cNvSpPr txBox="1">
            <a:spLocks/>
          </p:cNvSpPr>
          <p:nvPr/>
        </p:nvSpPr>
        <p:spPr>
          <a:xfrm>
            <a:off x="587375" y="1952625"/>
            <a:ext cx="5507425" cy="410527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DK"/>
            </a:defPPr>
            <a:lvl1pPr marL="0" algn="l" defTabSz="914400" rtl="0" eaLnBrk="1" latinLnBrk="0" hangingPunct="1">
              <a:lnSpc>
                <a:spcPct val="100000"/>
              </a:lnSpc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Introduction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Workshop Overview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 Case Based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Microsoft Copilot 365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Embedding AI in Employee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Takeaways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endParaRPr lang="en-DE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8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5328-74E4-06B8-3272-588D953D3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Who Am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2736-FB4B-10C4-90DC-5C7F2B66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Neil Sinclair, Senior Data Scientist, diconium Berlin</a:t>
            </a:r>
          </a:p>
          <a:p>
            <a:endParaRPr lang="en-DE" sz="1600" dirty="0"/>
          </a:p>
          <a:p>
            <a:r>
              <a:rPr lang="en-DE" sz="1600" dirty="0"/>
              <a:t>Deloitte strategy consultant turned data scientist</a:t>
            </a:r>
          </a:p>
          <a:p>
            <a:pPr marL="0" indent="0">
              <a:buNone/>
            </a:pPr>
            <a:endParaRPr lang="en-DE" sz="1600" dirty="0"/>
          </a:p>
          <a:p>
            <a:r>
              <a:rPr lang="en-DE" sz="1600" dirty="0"/>
              <a:t>Projects: retail, insurance, numerous GenAI projects and Data Product Factory</a:t>
            </a:r>
          </a:p>
          <a:p>
            <a:endParaRPr lang="en-DE" sz="1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8F4D0-E33C-BF5E-713E-2422B582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69729-26D3-FC24-EA9A-B1658560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</a:t>
            </a:fld>
            <a:endParaRPr lang="da-DK"/>
          </a:p>
        </p:txBody>
      </p:sp>
      <p:pic>
        <p:nvPicPr>
          <p:cNvPr id="6" name="Picture 5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7AFEDFE-2D76-4047-C202-FA2115A3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1" y="1461053"/>
            <a:ext cx="2145114" cy="2145114"/>
          </a:xfrm>
          <a:prstGeom prst="ellipse">
            <a:avLst/>
          </a:prstGeom>
        </p:spPr>
      </p:pic>
      <p:pic>
        <p:nvPicPr>
          <p:cNvPr id="8" name="Picture 7" descr="A person in a white suit standing on the moon with a flag&#10;&#10;Description automatically generated">
            <a:extLst>
              <a:ext uri="{FF2B5EF4-FFF2-40B4-BE49-F238E27FC236}">
                <a16:creationId xmlns:a16="http://schemas.microsoft.com/office/drawing/2014/main" id="{A5580779-8583-F0D7-F2EC-4BA755486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601" y="4107678"/>
            <a:ext cx="2145114" cy="21451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975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3B29-8368-79F3-617E-7506FA11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E2CA-9405-DEE7-37EB-60593EE85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28562-86E6-6E2A-EA2A-92ECE6CF7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8AF809-25A5-12BC-B571-50A61B4C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3840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2C8-B887-364C-6BE2-986BA437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F833-DF6B-44A8-A484-96BBF263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EB5B7-261D-7A7D-021F-B01838F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61A66-F1FA-B0CA-4888-E7686C3BD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A2FA9-3C2B-9EC9-0DFF-F0025930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B5A7DA-9D34-7DF3-AB84-E7F8114AD4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695617-B676-AB2E-EC63-511ACBCC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253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8612-0AED-3507-3825-F57E4FE4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2CA-164C-82BA-18C5-54A8B4D8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3F72AA-301C-8386-0C65-655BC10B9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46CC0C-C9AE-031B-47E5-6EE79BD3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C863B-473C-07B5-17A5-636A0CA1E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DEECD4-5225-A978-8CEB-0D71DD8C3B2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E8E04C3-5C37-A331-9ADF-2BB622F50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0715B4-62F4-405F-F25A-676ACE55B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6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DAAAD-3B7A-CC9F-8AD0-14638FFCF62C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2597C0FE-A81B-C820-FE7A-D9671D7FA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41483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7166B-825C-19F3-8A90-62684C3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CCC4-F34B-8710-6A66-2F26456F4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73821-6792-4A33-E3E2-812C0D82A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A5AA14-FFAB-4242-7273-48D4FBB53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1F1538-CF83-DFC0-8E90-AA153248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46FFF-EB8C-C979-4B97-2FA354D9CF2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A57DBA-06C4-AF96-5219-05EE4125F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AA535AB-1751-C5D0-E20C-1F4F111F0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7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C4CB9C-DD69-0FD7-B19F-D07669226805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0BFE47F3-4A46-8C7B-B062-316808E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90BDDCC-97C7-0F38-F19C-5C5B6B55BBE7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C977CB78-54BD-5334-D2ED-4EBF4062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4078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4BABE-3D5D-02E5-736C-729CBD07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F61C-1346-2754-6069-2AEF9705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EB792-2B7E-F4B0-121B-8D9317558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29254-01D2-C199-8C9A-C7860F54DE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3D094-FD2D-6720-281B-E7AFBA2106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DBA83-8D7C-69DD-8EBB-90199B6CA9D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ABB3A2-26EC-41D0-C4C2-306FED92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81338A-A790-AD6A-7C97-E62F24119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8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80E24F-AF7E-0F19-EA02-A48E7108BB77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4A8F5E7E-4535-2A7D-8947-2086E263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5451B2A-DBC5-9C44-8516-D18FDAF7FD84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7369A30D-927C-4E09-CF0C-2B97BE39E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254674E-5718-C964-9F08-0A5BA2BEB1C0}"/>
              </a:ext>
            </a:extLst>
          </p:cNvPr>
          <p:cNvSpPr/>
          <p:nvPr/>
        </p:nvSpPr>
        <p:spPr>
          <a:xfrm>
            <a:off x="10325292" y="4916199"/>
            <a:ext cx="1134000" cy="1134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cap="rnd">
            <a:solidFill>
              <a:schemeClr val="accent2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Researcher</a:t>
            </a:r>
          </a:p>
        </p:txBody>
      </p:sp>
      <p:pic>
        <p:nvPicPr>
          <p:cNvPr id="14" name="Picture 13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9571973E-F916-A1A4-4C81-24FA166A1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4881852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18111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BD81-7D82-6DB5-504E-473D379E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928-6B46-C7BD-BD1C-08429020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F3A31-C666-8B5F-B8D6-BEDF263A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11B67-E39B-F6ED-C41D-74A3A6D5F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A8BD27-4D58-7205-4E82-1878E391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4C2150-E00A-2868-65F9-A7783E22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9</a:t>
            </a:fld>
            <a:endParaRPr lang="da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FBA594-583B-0EFD-7E2B-F723003E4165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8426B3-B042-F055-5ADC-0EA6CC091172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D2337A-F08A-2C63-5649-310EA8932E17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69BE69-94C0-90E5-AF37-57A2340D7158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335449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B3F69-6CA8-9AF6-C768-720F0D4E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C303-A954-40C4-B35C-983292A4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CB0E2-0A54-E7DB-70E9-867DB438A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5CDD0-64B5-B6F7-8C28-C2F9FD784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24F76-2199-20FE-C001-C45468009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954800"/>
            <a:ext cx="4320000" cy="251999"/>
          </a:xfrm>
        </p:spPr>
        <p:txBody>
          <a:bodyPr/>
          <a:lstStyle/>
          <a:p>
            <a:r>
              <a:rPr lang="en-DE" dirty="0"/>
              <a:t>What We Need to Watch Out For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BC602-903B-3F1E-9433-8A1F8AE39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352675"/>
            <a:ext cx="4320000" cy="3709724"/>
          </a:xfrm>
        </p:spPr>
        <p:txBody>
          <a:bodyPr/>
          <a:lstStyle/>
          <a:p>
            <a:r>
              <a:rPr lang="en-DE" dirty="0"/>
              <a:t>Language models give convincing answers – even when they aren’t real</a:t>
            </a:r>
          </a:p>
          <a:p>
            <a:r>
              <a:rPr lang="en-DE" dirty="0"/>
              <a:t>This is called </a:t>
            </a:r>
            <a:r>
              <a:rPr lang="en-DE" dirty="0">
                <a:solidFill>
                  <a:schemeClr val="accent1"/>
                </a:solidFill>
              </a:rPr>
              <a:t>hallucination</a:t>
            </a:r>
          </a:p>
          <a:p>
            <a:r>
              <a:rPr lang="en-DE" dirty="0"/>
              <a:t>Language models are </a:t>
            </a:r>
            <a:r>
              <a:rPr lang="en-DE" dirty="0">
                <a:solidFill>
                  <a:schemeClr val="accent1"/>
                </a:solidFill>
              </a:rPr>
              <a:t>tools</a:t>
            </a:r>
            <a:r>
              <a:rPr lang="en-DE" dirty="0"/>
              <a:t>, not replacements for people </a:t>
            </a:r>
          </a:p>
          <a:p>
            <a:r>
              <a:rPr lang="en-DE" dirty="0"/>
              <a:t>Limited to knowledge in its training data which may not be relevant or true any more</a:t>
            </a:r>
          </a:p>
          <a:p>
            <a:r>
              <a:rPr lang="en-DE" dirty="0">
                <a:solidFill>
                  <a:schemeClr val="accent1"/>
                </a:solidFill>
              </a:rPr>
              <a:t>Responses are not always the same </a:t>
            </a:r>
            <a:r>
              <a:rPr lang="en-DE" dirty="0"/>
              <a:t>– even for the same input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9FEFC9-06DC-CE0B-DEF6-BB6A51ED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E6E159-BAE6-4742-4FAD-3B8A09B1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10</a:t>
            </a:fld>
            <a:endParaRPr lang="da-DK"/>
          </a:p>
        </p:txBody>
      </p:sp>
      <p:sp>
        <p:nvSpPr>
          <p:cNvPr id="16" name="Multiply 15">
            <a:extLst>
              <a:ext uri="{FF2B5EF4-FFF2-40B4-BE49-F238E27FC236}">
                <a16:creationId xmlns:a16="http://schemas.microsoft.com/office/drawing/2014/main" id="{5CEE74B6-F1EE-FA5C-F84C-5E0FD23EBBD3}"/>
              </a:ext>
            </a:extLst>
          </p:cNvPr>
          <p:cNvSpPr/>
          <p:nvPr/>
        </p:nvSpPr>
        <p:spPr>
          <a:xfrm>
            <a:off x="9302496" y="1833740"/>
            <a:ext cx="390462" cy="426767"/>
          </a:xfrm>
          <a:prstGeom prst="mathMultiply">
            <a:avLst/>
          </a:prstGeom>
          <a:solidFill>
            <a:schemeClr val="accent1">
              <a:lumMod val="75000"/>
            </a:schemeClr>
          </a:solidFill>
          <a:ln w="63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DE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F22B59-1A1F-505A-CEC6-15FA5435BA9D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7042F2-F367-206F-FC71-480578A55D6B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95D3E4-09D1-9D03-8007-A72B5C07FF6C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BC0B787-2EFC-3B63-EFA8-4B3EB0E718B5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74573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37465BB-4BB7-1160-ABC8-80857E512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17" y="2267188"/>
            <a:ext cx="10224308" cy="3333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3ACE0-EC6A-8B77-184D-89FEC479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Browser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547CF-6662-8FD6-8716-46D7395A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AA69-6457-25C2-247F-47CE52F7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11</a:t>
            </a:fld>
            <a:endParaRPr lang="da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AA23A3-7106-320B-E1D8-D6BE3847CFD1}"/>
              </a:ext>
            </a:extLst>
          </p:cNvPr>
          <p:cNvSpPr txBox="1"/>
          <p:nvPr/>
        </p:nvSpPr>
        <p:spPr>
          <a:xfrm>
            <a:off x="2072200" y="1238091"/>
            <a:ext cx="1969022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Content and Instructions webpage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3B52D-FA4F-F694-D275-9223253F3B49}"/>
              </a:ext>
            </a:extLst>
          </p:cNvPr>
          <p:cNvSpPr txBox="1"/>
          <p:nvPr/>
        </p:nvSpPr>
        <p:spPr>
          <a:xfrm>
            <a:off x="4433897" y="1447014"/>
            <a:ext cx="1435733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Copilot 365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F31FD4-F13B-94F9-CC02-C1B9D5F3D24E}"/>
              </a:ext>
            </a:extLst>
          </p:cNvPr>
          <p:cNvCxnSpPr>
            <a:cxnSpLocks/>
            <a:stCxn id="32" idx="0"/>
            <a:endCxn id="13" idx="1"/>
          </p:cNvCxnSpPr>
          <p:nvPr/>
        </p:nvCxnSpPr>
        <p:spPr>
          <a:xfrm flipV="1">
            <a:off x="4148204" y="1672202"/>
            <a:ext cx="285693" cy="5833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556DD0-4A91-31D9-D05C-DBCB15B12BFC}"/>
              </a:ext>
            </a:extLst>
          </p:cNvPr>
          <p:cNvCxnSpPr>
            <a:cxnSpLocks/>
            <a:stCxn id="31" idx="0"/>
            <a:endCxn id="12" idx="2"/>
          </p:cNvCxnSpPr>
          <p:nvPr/>
        </p:nvCxnSpPr>
        <p:spPr>
          <a:xfrm flipV="1">
            <a:off x="2428299" y="1688467"/>
            <a:ext cx="628412" cy="5671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4B0FABB-900C-DA26-FDC9-B80A93DE2295}"/>
              </a:ext>
            </a:extLst>
          </p:cNvPr>
          <p:cNvSpPr/>
          <p:nvPr/>
        </p:nvSpPr>
        <p:spPr>
          <a:xfrm>
            <a:off x="1611730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D7DE2-1E14-D677-B0F3-5ECD46362D43}"/>
              </a:ext>
            </a:extLst>
          </p:cNvPr>
          <p:cNvSpPr/>
          <p:nvPr/>
        </p:nvSpPr>
        <p:spPr>
          <a:xfrm>
            <a:off x="3331635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748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2CA0-8BB1-722C-AD6B-1B565BFD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C8934B-D971-2D03-6AE9-CAEF03CD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89" y="1523392"/>
            <a:ext cx="9011988" cy="44190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BC9D6-3EC5-4DD8-8D46-20F660F0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MS365 Copilot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086CD-8FFF-9EFC-DF63-4E3CC8F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F130-9F07-B561-4E2A-03EF0034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12</a:t>
            </a:fld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5ABC4-1A64-DF76-D65B-F022F16CE120}"/>
              </a:ext>
            </a:extLst>
          </p:cNvPr>
          <p:cNvSpPr txBox="1"/>
          <p:nvPr/>
        </p:nvSpPr>
        <p:spPr>
          <a:xfrm>
            <a:off x="663732" y="5023589"/>
            <a:ext cx="1529904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User message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6E916A-F8EA-B484-DA36-EF3C2FBB9D03}"/>
              </a:ext>
            </a:extLst>
          </p:cNvPr>
          <p:cNvSpPr/>
          <p:nvPr/>
        </p:nvSpPr>
        <p:spPr>
          <a:xfrm>
            <a:off x="7425367" y="5516779"/>
            <a:ext cx="231210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A30AF0-A06B-F079-0B23-324DF6D7E929}"/>
              </a:ext>
            </a:extLst>
          </p:cNvPr>
          <p:cNvSpPr/>
          <p:nvPr/>
        </p:nvSpPr>
        <p:spPr>
          <a:xfrm>
            <a:off x="8845115" y="2676176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D9C67-1D9D-BF9D-1B76-393A5DF5FFB6}"/>
              </a:ext>
            </a:extLst>
          </p:cNvPr>
          <p:cNvSpPr/>
          <p:nvPr/>
        </p:nvSpPr>
        <p:spPr>
          <a:xfrm>
            <a:off x="2612961" y="5035640"/>
            <a:ext cx="4437193" cy="71736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1F85E-C469-EC58-1695-08A136103FBD}"/>
              </a:ext>
            </a:extLst>
          </p:cNvPr>
          <p:cNvSpPr txBox="1"/>
          <p:nvPr/>
        </p:nvSpPr>
        <p:spPr>
          <a:xfrm>
            <a:off x="3387666" y="1104990"/>
            <a:ext cx="1745166" cy="26253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Toggle between ”Work” and “Web”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C919CD-7E27-D397-7464-5C0BE02E508A}"/>
              </a:ext>
            </a:extLst>
          </p:cNvPr>
          <p:cNvSpPr txBox="1"/>
          <p:nvPr/>
        </p:nvSpPr>
        <p:spPr>
          <a:xfrm>
            <a:off x="10661864" y="1874596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Agents Area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87211ED-27B2-AE73-94D5-01B20ABFD2AE}"/>
              </a:ext>
            </a:extLst>
          </p:cNvPr>
          <p:cNvCxnSpPr>
            <a:cxnSpLocks/>
            <a:stCxn id="10" idx="0"/>
            <a:endCxn id="13" idx="2"/>
          </p:cNvCxnSpPr>
          <p:nvPr/>
        </p:nvCxnSpPr>
        <p:spPr>
          <a:xfrm flipV="1">
            <a:off x="9678092" y="2181858"/>
            <a:ext cx="1531630" cy="4943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F75C8F-358A-88A4-2920-3881E70DC9D4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 flipV="1">
            <a:off x="8058562" y="4388427"/>
            <a:ext cx="170388" cy="5372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CB293A3-7839-46FD-9C57-DD124001B53B}"/>
              </a:ext>
            </a:extLst>
          </p:cNvPr>
          <p:cNvCxnSpPr>
            <a:cxnSpLocks/>
          </p:cNvCxnSpPr>
          <p:nvPr/>
        </p:nvCxnSpPr>
        <p:spPr>
          <a:xfrm flipH="1" flipV="1">
            <a:off x="1619689" y="5248777"/>
            <a:ext cx="993272" cy="858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D8662F3-FB88-0C19-82B3-C54F27002559}"/>
              </a:ext>
            </a:extLst>
          </p:cNvPr>
          <p:cNvSpPr/>
          <p:nvPr/>
        </p:nvSpPr>
        <p:spPr>
          <a:xfrm>
            <a:off x="7170029" y="1920129"/>
            <a:ext cx="76790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07CE7-8985-6434-53FF-A7AE187CD45B}"/>
              </a:ext>
            </a:extLst>
          </p:cNvPr>
          <p:cNvSpPr/>
          <p:nvPr/>
        </p:nvSpPr>
        <p:spPr>
          <a:xfrm>
            <a:off x="7290816" y="4794844"/>
            <a:ext cx="76774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394061-B3AC-0D1E-1C40-CEC4987F0F6E}"/>
              </a:ext>
            </a:extLst>
          </p:cNvPr>
          <p:cNvSpPr txBox="1"/>
          <p:nvPr/>
        </p:nvSpPr>
        <p:spPr>
          <a:xfrm>
            <a:off x="7642971" y="4126698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Saved prompts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37C24B-DCF9-B7E6-11B3-C1B05B365323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7656577" y="5490478"/>
            <a:ext cx="1303262" cy="1571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0045FE-986D-1B6D-91B0-2626BAE293A1}"/>
              </a:ext>
            </a:extLst>
          </p:cNvPr>
          <p:cNvSpPr txBox="1"/>
          <p:nvPr/>
        </p:nvSpPr>
        <p:spPr>
          <a:xfrm>
            <a:off x="8959839" y="5392308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E6DE2C-DF5C-50B3-AA02-8E890041E11B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7290816" y="1316064"/>
            <a:ext cx="263166" cy="6040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A4BD542-FCE3-70E7-FB61-8594D889761A}"/>
              </a:ext>
            </a:extLst>
          </p:cNvPr>
          <p:cNvSpPr/>
          <p:nvPr/>
        </p:nvSpPr>
        <p:spPr>
          <a:xfrm>
            <a:off x="4848446" y="1952625"/>
            <a:ext cx="1040289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CC671F6-F865-DB13-A45D-E8CFD4CC634E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741621" y="1349837"/>
            <a:ext cx="626970" cy="6027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205432CD-9C69-DD9C-B16B-207B62B8179B}"/>
              </a:ext>
            </a:extLst>
          </p:cNvPr>
          <p:cNvSpPr/>
          <p:nvPr/>
        </p:nvSpPr>
        <p:spPr>
          <a:xfrm>
            <a:off x="2684962" y="5318093"/>
            <a:ext cx="811936" cy="270554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ED31C29-7C23-EDBF-3FDC-A27F4DB499BF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3636" y="5453370"/>
            <a:ext cx="491326" cy="1930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93AB6-5047-2215-EB83-A3E2D043D451}"/>
              </a:ext>
            </a:extLst>
          </p:cNvPr>
          <p:cNvSpPr txBox="1"/>
          <p:nvPr/>
        </p:nvSpPr>
        <p:spPr>
          <a:xfrm>
            <a:off x="1111457" y="5569061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7E48D1-C92E-0176-EC97-159706024765}"/>
              </a:ext>
            </a:extLst>
          </p:cNvPr>
          <p:cNvSpPr txBox="1"/>
          <p:nvPr/>
        </p:nvSpPr>
        <p:spPr>
          <a:xfrm>
            <a:off x="6829768" y="1075835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Start a new chat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E584A5-7133-EFB2-D545-5008D3F2AE44}"/>
              </a:ext>
            </a:extLst>
          </p:cNvPr>
          <p:cNvSpPr/>
          <p:nvPr/>
        </p:nvSpPr>
        <p:spPr>
          <a:xfrm>
            <a:off x="8845115" y="3863044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1DC12-13A0-79EA-C2CE-7DB978882A55}"/>
              </a:ext>
            </a:extLst>
          </p:cNvPr>
          <p:cNvSpPr txBox="1"/>
          <p:nvPr/>
        </p:nvSpPr>
        <p:spPr>
          <a:xfrm>
            <a:off x="10763916" y="3780750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Previous chats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9BDF08-D7DC-69E4-A89A-CF917B1CFB35}"/>
              </a:ext>
            </a:extLst>
          </p:cNvPr>
          <p:cNvCxnSpPr>
            <a:cxnSpLocks/>
            <a:stCxn id="8" idx="3"/>
            <a:endCxn id="18" idx="2"/>
          </p:cNvCxnSpPr>
          <p:nvPr/>
        </p:nvCxnSpPr>
        <p:spPr>
          <a:xfrm flipV="1">
            <a:off x="10511069" y="4088012"/>
            <a:ext cx="800705" cy="2233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03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98F4-CAA5-F0D5-0F95-BC1A8AF6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Expert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CD9AE-8F0A-CB89-8708-1A1F774E4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Adding an expert to your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B6A872-DDE4-C773-386B-8E882134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43908-B213-5B8B-2B10-7273A0C7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0312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3EAC2BC-23F7-FF51-2CFA-09B262344B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79811F-66A5-EA19-3575-3816F237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with the Basics: The Expert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08FF7-041F-71C1-17C1-C85AC17C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A7DA3-0B21-853E-4A75-3D04C61C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14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3C3E6F-08E5-C79E-9413-4CEA90CC7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EF612-F0FD-6455-3227-B13DE1C78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Let’s get started!</a:t>
            </a:r>
          </a:p>
          <a:p>
            <a:endParaRPr lang="en-DE" sz="1600" dirty="0"/>
          </a:p>
          <a:p>
            <a:r>
              <a:rPr lang="en-DE" sz="1600" dirty="0"/>
              <a:t>Go to your browser and click on the </a:t>
            </a:r>
            <a:r>
              <a:rPr lang="en-DE" sz="1600" b="1" dirty="0"/>
              <a:t>Copilot</a:t>
            </a:r>
            <a:r>
              <a:rPr lang="en-DE" sz="1600" dirty="0"/>
              <a:t> tab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F3226B-A2CC-EF7C-FDAD-B191BDD8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07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4AF6-E640-1B32-B038-A8F4EB3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E297E9E-26CE-2C1C-DA46-F974ADB194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144BFB-7ECF-84E4-5313-44C0A25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E9A3-9886-9F60-47A4-E623CABA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EF7E9-CAE4-3A05-F125-B9636363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60410A-EC05-B0FA-D188-47E21AB286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B3492B-9E46-691D-9303-12344DD5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DE" sz="1600" dirty="0"/>
              <a:t>The </a:t>
            </a:r>
            <a:r>
              <a:rPr lang="en-DE" sz="1600" dirty="0">
                <a:solidFill>
                  <a:schemeClr val="accent1"/>
                </a:solidFill>
              </a:rPr>
              <a:t>instruction message </a:t>
            </a:r>
            <a:r>
              <a:rPr lang="en-US" sz="1600" dirty="0"/>
              <a:t>defines the </a:t>
            </a:r>
            <a:r>
              <a:rPr lang="en-DE" sz="1600" dirty="0">
                <a:solidFill>
                  <a:schemeClr val="accent1"/>
                </a:solidFill>
              </a:rPr>
              <a:t>character of the bot</a:t>
            </a:r>
          </a:p>
          <a:p>
            <a:pPr lvl="1"/>
            <a:r>
              <a:rPr lang="en-DE" sz="1600" dirty="0"/>
              <a:t>Add information about </a:t>
            </a:r>
            <a:r>
              <a:rPr lang="en-DE" sz="1600" dirty="0">
                <a:solidFill>
                  <a:schemeClr val="accent1"/>
                </a:solidFill>
              </a:rPr>
              <a:t>your company or department </a:t>
            </a:r>
            <a:r>
              <a:rPr lang="en-DE" sz="1600" dirty="0"/>
              <a:t>to get more </a:t>
            </a:r>
            <a:r>
              <a:rPr lang="en-DE" sz="1600" dirty="0">
                <a:solidFill>
                  <a:schemeClr val="accent1"/>
                </a:solidFill>
              </a:rPr>
              <a:t>custom results</a:t>
            </a:r>
          </a:p>
          <a:p>
            <a:pPr lvl="1"/>
            <a:r>
              <a:rPr lang="en-DE" sz="1600" dirty="0">
                <a:solidFill>
                  <a:schemeClr val="accent1"/>
                </a:solidFill>
              </a:rPr>
              <a:t>More detail </a:t>
            </a:r>
            <a:r>
              <a:rPr lang="en-DE" sz="1600" dirty="0"/>
              <a:t>is better</a:t>
            </a:r>
          </a:p>
          <a:p>
            <a:pPr lvl="1"/>
            <a:r>
              <a:rPr lang="en-DE" sz="1600" dirty="0"/>
              <a:t>The process is </a:t>
            </a:r>
            <a:r>
              <a:rPr lang="en-DE" sz="1600" dirty="0">
                <a:solidFill>
                  <a:schemeClr val="accent1"/>
                </a:solidFill>
              </a:rPr>
              <a:t>experimental</a:t>
            </a:r>
            <a:r>
              <a:rPr lang="en-DE" sz="1600" dirty="0"/>
              <a:t> – create, test and iterate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save your best prompts</a:t>
            </a:r>
            <a:r>
              <a:rPr lang="en-DE" sz="1600" b="1" dirty="0">
                <a:solidFill>
                  <a:schemeClr val="accent1"/>
                </a:solidFill>
              </a:rPr>
              <a:t> </a:t>
            </a:r>
            <a:r>
              <a:rPr lang="en-DE" sz="1600" dirty="0"/>
              <a:t>for later, enabling you to store useful bots</a:t>
            </a:r>
            <a:endParaRPr lang="en-DE" sz="1600" dirty="0">
              <a:solidFill>
                <a:schemeClr val="accent1"/>
              </a:solidFill>
            </a:endParaRPr>
          </a:p>
          <a:p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F72935-B473-87BE-D9EB-6723D3E69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07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B0CF-25AF-3E30-37D1-9895F110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4AEF-A322-F64F-8D11-FE088EEC2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Executive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B1D89-AACC-0C29-AA78-E5A8F082C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 personal executive assistant so you can focus on what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7BDA3-86BE-1EA8-C0FC-08000B41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A3097-4C00-F8CF-D588-8CCEBDB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5807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3A9-0C3C-E7FC-ACB0-4451D4D2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562AFB-69C6-1CA4-63B1-D96F42422E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B1EE7-7F92-27E3-EF3D-F0459118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Executive Assistant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CD0BA-8274-43BD-D3D9-ECEC515CD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1F9F-5C37-D946-6484-3BC109FD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3601A5-3257-CFC4-F1A9-B6A63FE97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8236E7-D4B8-DBE0-DC90-73B6DB738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Like a great executive assistant, your personal bot can take over </a:t>
            </a:r>
            <a:r>
              <a:rPr lang="en-US" sz="1600" dirty="0">
                <a:solidFill>
                  <a:schemeClr val="accent1"/>
                </a:solidFill>
              </a:rPr>
              <a:t>some of the boring work </a:t>
            </a:r>
            <a:r>
              <a:rPr lang="en-US" sz="1600" dirty="0"/>
              <a:t>you need to do. It can:</a:t>
            </a:r>
          </a:p>
          <a:p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translate</a:t>
            </a:r>
            <a:r>
              <a:rPr lang="en-US" sz="1600" dirty="0"/>
              <a:t> something quickly</a:t>
            </a:r>
          </a:p>
          <a:p>
            <a:pPr marL="180000" lvl="1" indent="0">
              <a:buNone/>
            </a:pPr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draft the perfect email </a:t>
            </a:r>
            <a:r>
              <a:rPr lang="en-US" sz="1600" dirty="0"/>
              <a:t>in seconds</a:t>
            </a:r>
          </a:p>
          <a:p>
            <a:pPr marL="0" indent="0">
              <a:buNone/>
            </a:pPr>
            <a:endParaRPr lang="en-US" sz="1600" dirty="0"/>
          </a:p>
          <a:p>
            <a:pPr lvl="1"/>
            <a:r>
              <a:rPr lang="en-US" sz="1600" dirty="0"/>
              <a:t>create a </a:t>
            </a:r>
            <a:r>
              <a:rPr lang="en-US" sz="1600" dirty="0">
                <a:solidFill>
                  <a:schemeClr val="accent1"/>
                </a:solidFill>
              </a:rPr>
              <a:t>quick summary of the </a:t>
            </a:r>
            <a:r>
              <a:rPr lang="en-US" sz="1600" dirty="0"/>
              <a:t>main points in a document</a:t>
            </a:r>
            <a:r>
              <a:rPr lang="en-US" sz="1600" b="1" dirty="0"/>
              <a:t> </a:t>
            </a:r>
            <a:endParaRPr lang="en-US" sz="1600" dirty="0"/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2D64C-EF5E-6FBC-672F-7E27997C5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84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CFC-CECA-9C40-4D77-754E9B19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16C0E51-7F9D-676B-FCB2-833F00B957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39433-01E9-1353-0F6F-A8F05945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B2960-E437-9D4F-7C95-181D8B12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63F25-D143-FE0B-5460-88697A4C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5B44EA-B56D-4519-CFFB-ED67DF34F5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E28489-C813-C509-268C-30CAE745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1600" dirty="0"/>
              <a:t>Your bot can </a:t>
            </a:r>
            <a:r>
              <a:rPr lang="en-US" sz="1600" dirty="0">
                <a:solidFill>
                  <a:schemeClr val="accent1"/>
                </a:solidFill>
              </a:rPr>
              <a:t>speed up mundane tasks</a:t>
            </a:r>
            <a:endParaRPr lang="en-DE" sz="1600" dirty="0">
              <a:solidFill>
                <a:schemeClr val="accent1"/>
              </a:solidFill>
            </a:endParaRPr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The instruction message </a:t>
            </a:r>
            <a:r>
              <a:rPr lang="en-US" sz="1600" dirty="0"/>
              <a:t>helps to design the bot for your specific needs</a:t>
            </a:r>
            <a:endParaRPr lang="en-DE" sz="1600" dirty="0"/>
          </a:p>
          <a:p>
            <a:pPr lvl="1"/>
            <a:r>
              <a:rPr lang="en-DE" sz="1600" dirty="0"/>
              <a:t>Give your bot </a:t>
            </a:r>
            <a:r>
              <a:rPr lang="en-DE" sz="1600" dirty="0">
                <a:solidFill>
                  <a:schemeClr val="accent1"/>
                </a:solidFill>
              </a:rPr>
              <a:t>the key points </a:t>
            </a:r>
            <a:r>
              <a:rPr lang="en-DE" sz="1600" dirty="0"/>
              <a:t>and they can fill in the rest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iterate on the work </a:t>
            </a:r>
            <a:r>
              <a:rPr lang="en-DE" sz="1600" dirty="0"/>
              <a:t>with the bot by asking it to change parts of its work</a:t>
            </a:r>
          </a:p>
          <a:p>
            <a:pPr lvl="1"/>
            <a:r>
              <a:rPr lang="en-DE" sz="1600" dirty="0"/>
              <a:t>You can give your assistant </a:t>
            </a:r>
            <a:r>
              <a:rPr lang="en-DE" sz="1600" dirty="0">
                <a:solidFill>
                  <a:schemeClr val="accent1"/>
                </a:solidFill>
              </a:rPr>
              <a:t>documents</a:t>
            </a:r>
            <a:r>
              <a:rPr lang="en-DE" sz="1600" dirty="0"/>
              <a:t> to work off</a:t>
            </a:r>
          </a:p>
          <a:p>
            <a:pPr lvl="1"/>
            <a:r>
              <a:rPr lang="en-DE" sz="1600" b="1" dirty="0">
                <a:solidFill>
                  <a:schemeClr val="accent1"/>
                </a:solidFill>
              </a:rPr>
              <a:t>You MUST check their work </a:t>
            </a:r>
            <a:r>
              <a:rPr lang="en-DE" sz="1600" b="1" dirty="0"/>
              <a:t>before you send it off</a:t>
            </a:r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E774-981E-FDCC-E718-7F41F46D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02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1BAA-E5F7-47D3-4D00-70B31E7B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B60-87A8-18F6-D44E-83D09916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Research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6AFD2-8EDD-8AC4-E8C3-2327A6469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Giving your bot documents and extracting insights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66BE5-D459-506E-5F13-79D58AEC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B437B-9184-850B-A6AA-E79C421F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8237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A10C9-2C78-FBA4-C469-74E667EF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1D010E45-86A2-0CE2-64E6-5C0BF61095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E1B797-C92C-7790-21AF-E1938320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Hallucinations and Reasoning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C8813-BD69-E293-F57A-2008E376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863F-462E-C7C4-90D3-C9416E989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20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6039DD-19C6-5419-E289-B58D66C70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116F22-0475-938D-CB5E-490A6CA54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Bots are very good at </a:t>
            </a:r>
            <a:r>
              <a:rPr lang="en-US" sz="1600" dirty="0">
                <a:solidFill>
                  <a:schemeClr val="accent1"/>
                </a:solidFill>
              </a:rPr>
              <a:t>generating text which looks correct</a:t>
            </a:r>
            <a:r>
              <a:rPr lang="en-US" sz="1600" dirty="0"/>
              <a:t>, but which has no basis in truth – this is called </a:t>
            </a:r>
            <a:r>
              <a:rPr lang="en-US" sz="1600" dirty="0">
                <a:solidFill>
                  <a:schemeClr val="accent1"/>
                </a:solidFill>
              </a:rPr>
              <a:t>hallucinating</a:t>
            </a:r>
            <a:endParaRPr lang="en-US" sz="1600" dirty="0"/>
          </a:p>
          <a:p>
            <a:r>
              <a:rPr lang="en-US" sz="1600" dirty="0"/>
              <a:t>One way to stop this is to </a:t>
            </a:r>
            <a:r>
              <a:rPr lang="en-US" sz="1600" dirty="0">
                <a:solidFill>
                  <a:schemeClr val="accent1"/>
                </a:solidFill>
              </a:rPr>
              <a:t>give information to bot</a:t>
            </a:r>
            <a:r>
              <a:rPr lang="en-US" sz="1600" dirty="0"/>
              <a:t> to answer questions from</a:t>
            </a:r>
          </a:p>
          <a:p>
            <a:r>
              <a:rPr lang="en-US" sz="1600" dirty="0"/>
              <a:t>Like a good student with a good textbook in front of them, bots are (surprisingly) </a:t>
            </a:r>
            <a:r>
              <a:rPr lang="en-US" sz="1600" dirty="0">
                <a:solidFill>
                  <a:schemeClr val="accent1"/>
                </a:solidFill>
              </a:rPr>
              <a:t>good at reasoning </a:t>
            </a:r>
            <a:r>
              <a:rPr lang="en-US" sz="1600" dirty="0"/>
              <a:t>when the </a:t>
            </a:r>
            <a:r>
              <a:rPr lang="en-US" sz="1600" dirty="0">
                <a:solidFill>
                  <a:schemeClr val="accent1"/>
                </a:solidFill>
              </a:rPr>
              <a:t>information they have is good</a:t>
            </a:r>
            <a:endParaRPr lang="en-US" sz="1600" dirty="0"/>
          </a:p>
          <a:p>
            <a:r>
              <a:rPr lang="en-US" sz="1600" dirty="0"/>
              <a:t>When a bot generates a response using an external document, we call this </a:t>
            </a:r>
            <a:r>
              <a:rPr lang="en-US" sz="1600" dirty="0">
                <a:solidFill>
                  <a:schemeClr val="accent1"/>
                </a:solidFill>
              </a:rPr>
              <a:t>Retrieval Augmented Generation </a:t>
            </a:r>
            <a:r>
              <a:rPr lang="en-US" sz="1600" dirty="0"/>
              <a:t>- </a:t>
            </a:r>
            <a:r>
              <a:rPr lang="en-US" sz="1600" dirty="0">
                <a:solidFill>
                  <a:schemeClr val="accent1"/>
                </a:solidFill>
              </a:rPr>
              <a:t>RAG</a:t>
            </a:r>
            <a:r>
              <a:rPr lang="en-US" sz="1600" dirty="0"/>
              <a:t> for short</a:t>
            </a:r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70B9C7-2653-78D5-A35D-FBF83B91D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77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D9E7-C259-2B08-714D-3CC70FAE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31CBDD8-FB57-F678-6E08-7F787BD41C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D7D5B1-0041-10CD-CE21-0956F2F7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AE92E-F5E5-A142-04DD-D06C1A36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A49EAD-8495-5E7B-F2C2-697E6D3E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ABE627-5DDF-5726-BCF9-E0E5DAEEA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30E0D9-FA40-0572-3508-206719B9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Providing your bot with information </a:t>
            </a:r>
            <a:r>
              <a:rPr lang="en-GB" sz="1600" noProof="0" dirty="0"/>
              <a:t>to answer a question vastly improves its accuracy</a:t>
            </a:r>
          </a:p>
          <a:p>
            <a:pPr lvl="1"/>
            <a:r>
              <a:rPr lang="en-GB" sz="1600" noProof="0" dirty="0"/>
              <a:t>You can do this by </a:t>
            </a:r>
            <a:r>
              <a:rPr lang="en-GB" sz="1600" noProof="0" dirty="0">
                <a:solidFill>
                  <a:schemeClr val="accent1"/>
                </a:solidFill>
              </a:rPr>
              <a:t>uploading one or more documents</a:t>
            </a:r>
            <a:endParaRPr lang="en-GB" sz="1600" noProof="0" dirty="0"/>
          </a:p>
          <a:p>
            <a:pPr lvl="1"/>
            <a:r>
              <a:rPr lang="en-GB" sz="1600" noProof="0" dirty="0"/>
              <a:t>You can </a:t>
            </a:r>
            <a:r>
              <a:rPr lang="en-GB" sz="1600" noProof="0" dirty="0">
                <a:solidFill>
                  <a:schemeClr val="accent1"/>
                </a:solidFill>
              </a:rPr>
              <a:t>tell your bot how </a:t>
            </a:r>
            <a:r>
              <a:rPr lang="en-GB" sz="1600" noProof="0" dirty="0"/>
              <a:t>you want it to answer/summarise/analyse information</a:t>
            </a:r>
          </a:p>
          <a:p>
            <a:pPr lvl="1"/>
            <a:r>
              <a:rPr lang="en-GB" sz="1600" noProof="0" dirty="0"/>
              <a:t>You can ask your bot for </a:t>
            </a:r>
            <a:r>
              <a:rPr lang="en-GB" sz="1600" noProof="0" dirty="0">
                <a:solidFill>
                  <a:schemeClr val="accent1"/>
                </a:solidFill>
              </a:rPr>
              <a:t>insights</a:t>
            </a:r>
            <a:r>
              <a:rPr lang="en-GB" sz="1600" noProof="0" dirty="0"/>
              <a:t> (i.e. not just a summary) on </a:t>
            </a:r>
            <a:r>
              <a:rPr lang="en-GB" sz="1600" dirty="0"/>
              <a:t>one or more documents</a:t>
            </a:r>
          </a:p>
          <a:p>
            <a:pPr lvl="1"/>
            <a:r>
              <a:rPr lang="en-GB" sz="1600" dirty="0"/>
              <a:t>Copilot can </a:t>
            </a:r>
            <a:r>
              <a:rPr lang="en-GB" sz="1600" dirty="0">
                <a:solidFill>
                  <a:schemeClr val="accent1"/>
                </a:solidFill>
              </a:rPr>
              <a:t>go online </a:t>
            </a:r>
            <a:r>
              <a:rPr lang="en-GB" sz="1600" dirty="0"/>
              <a:t>and do research as well</a:t>
            </a:r>
          </a:p>
          <a:p>
            <a:pPr lvl="1"/>
            <a:r>
              <a:rPr lang="en-GB" sz="1600" noProof="0" dirty="0"/>
              <a:t>This is an </a:t>
            </a:r>
            <a:r>
              <a:rPr lang="en-GB" sz="1600" dirty="0">
                <a:solidFill>
                  <a:schemeClr val="accent1"/>
                </a:solidFill>
              </a:rPr>
              <a:t>analysis aid, </a:t>
            </a:r>
            <a:r>
              <a:rPr lang="en-GB" sz="1600" dirty="0"/>
              <a:t>not a replacement for in-depth analysis</a:t>
            </a:r>
            <a:endParaRPr lang="en-GB" sz="1600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7F679-92FC-5A21-CF69-E8EA9A4902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34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3E06-D7A2-64A0-3805-CEA78711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CE06-99C4-6698-D046-8F68A0B9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Microsoft Copilot 365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B5A93-AABB-357E-7F20-AF3A31699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Connecting an Assistant with Your Documents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3B8C7-581D-B4BF-D734-8F297694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FA979-06C4-F775-A54A-E219FD60B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4843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BF68-EFB7-4680-13A0-F2D72C07E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0FD178-F59A-EBD1-567D-BEB18DD7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Microsoft Copilot 356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ECD99-4FB0-1915-DBD5-B197A2BE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272F1-40D1-6E82-265C-947EAAEC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63A7D2-6879-A94B-9240-ED813D926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E4F0C8-D8DF-6E58-F610-917F5906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Microsoft Copilot 365 </a:t>
            </a:r>
            <a:r>
              <a:rPr lang="en-GB" sz="1600" noProof="0" dirty="0"/>
              <a:t>allows one to create an assistant</a:t>
            </a:r>
            <a:r>
              <a:rPr lang="en-GB" sz="1600" dirty="0"/>
              <a:t> within your company’s Microsoft ecosystem</a:t>
            </a:r>
            <a:endParaRPr lang="en-GB" sz="1600" noProof="0" dirty="0"/>
          </a:p>
          <a:p>
            <a:pPr lvl="1"/>
            <a:r>
              <a:rPr lang="en-GB" sz="1600" noProof="0" dirty="0"/>
              <a:t>Your assistant can have access to:</a:t>
            </a:r>
          </a:p>
          <a:p>
            <a:pPr lvl="2"/>
            <a:r>
              <a:rPr lang="en-GB" sz="1600" dirty="0"/>
              <a:t>Your emails</a:t>
            </a:r>
          </a:p>
          <a:p>
            <a:pPr lvl="2"/>
            <a:r>
              <a:rPr lang="en-GB" sz="1600" noProof="0" dirty="0"/>
              <a:t>Your files</a:t>
            </a:r>
          </a:p>
          <a:p>
            <a:pPr lvl="2"/>
            <a:r>
              <a:rPr lang="en-GB" sz="1600" dirty="0"/>
              <a:t>The internet</a:t>
            </a:r>
          </a:p>
          <a:p>
            <a:pPr lvl="1"/>
            <a:r>
              <a:rPr lang="en-GB" sz="1600" noProof="0" dirty="0"/>
              <a:t>All of this is within a </a:t>
            </a:r>
            <a:r>
              <a:rPr lang="en-GB" sz="1600">
                <a:solidFill>
                  <a:schemeClr val="accent1"/>
                </a:solidFill>
              </a:rPr>
              <a:t>data-safe </a:t>
            </a:r>
            <a:r>
              <a:rPr lang="en-GB" sz="1600" noProof="0" dirty="0"/>
              <a:t>environment</a:t>
            </a:r>
          </a:p>
          <a:p>
            <a:endParaRPr lang="en-GB" sz="1600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F13E1D-F549-7B75-A453-545328F41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391" y="1209658"/>
            <a:ext cx="4103100" cy="410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632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CEAB-A7AE-D629-5E1E-C7EC491A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E5852-DB69-86D6-F8FF-7814B7832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Embedding AI in Employee Workflows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24A2F-58F0-26BE-6DE7-CC14175B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to get employees to reap t</a:t>
            </a:r>
            <a:r>
              <a:rPr lang="en-GB" dirty="0"/>
              <a:t>he</a:t>
            </a:r>
            <a:r>
              <a:rPr lang="en-DE" dirty="0"/>
              <a:t> benefits of AI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0AA94-AC40-2B25-3080-663F718E1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2DD28-3060-B1AE-72BD-87FC364FE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3934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2AA2-8E10-E1A6-E58E-C2BA2569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11F4A1-6160-17D4-E71C-A208626A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Why do we still need Humans?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F32E8-44B7-AC94-481F-E21F03393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054D6-8A2F-F3CB-6456-EB12F2734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0F3870-35EA-908F-FC41-3B05ABFAE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CB4070-0A41-7572-CC35-0CFF36C7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chemeClr val="accent1"/>
                </a:solidFill>
              </a:rPr>
              <a:t>The bigger picture</a:t>
            </a:r>
          </a:p>
          <a:p>
            <a:r>
              <a:rPr lang="en-GB" dirty="0"/>
              <a:t>The latest language models (e.g. GPT o3) are achieving human-level results – but they’re wildly expensive and don’t have clear use-cases</a:t>
            </a:r>
          </a:p>
          <a:p>
            <a:r>
              <a:rPr lang="en-GB" dirty="0"/>
              <a:t>Copilot is very useful, but makes convincing mistakes and needs clear instructions</a:t>
            </a:r>
          </a:p>
          <a:p>
            <a:r>
              <a:rPr lang="en-GB" dirty="0"/>
              <a:t>There is a lot of low-hanging fruit where current language models – and even earlier, smaller models – can improve our day-to-day work</a:t>
            </a:r>
          </a:p>
          <a:p>
            <a:r>
              <a:rPr lang="en-GB" dirty="0"/>
              <a:t>Humans are still smarter – we should find ways to use current LLMs to give employees more time to do tasks where they really add value</a:t>
            </a:r>
          </a:p>
        </p:txBody>
      </p:sp>
    </p:spTree>
    <p:extLst>
      <p:ext uri="{BB962C8B-B14F-4D97-AF65-F5344CB8AC3E}">
        <p14:creationId xmlns:p14="http://schemas.microsoft.com/office/powerpoint/2010/main" val="3033118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45C5-B859-6CFD-5F66-09A4529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6C8B1D-751B-D03A-B4D9-2DB9940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B5E80-368C-D261-1719-74816F13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2B03E8B-5D01-1BCE-16C5-B2D30CB7F6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9018D8-D177-D96B-FDB3-DC82BCC6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</p:spTree>
    <p:extLst>
      <p:ext uri="{BB962C8B-B14F-4D97-AF65-F5344CB8AC3E}">
        <p14:creationId xmlns:p14="http://schemas.microsoft.com/office/powerpoint/2010/main" val="1320885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BB5-3923-AD63-FAFA-5C0D05642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23B812-C628-34A5-FC6F-A6813FB2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22194-F73B-903B-DE2A-60857BD4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AE331-0EF0-CFC2-DB9A-B0AEAFB6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0BBBF2-C222-0491-DA12-B5F0625460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AE89E7F-1043-7C11-5B89-3EE436095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AD112565-E14B-01BE-FAD9-F9FD3137600F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8883473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1E9D9-AC6B-FC0F-1275-EF93A789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334DB9-D73F-BBD5-9D51-170F5479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DE1C8-1FC8-423E-0B39-9737D4AF0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84A7B-C6E7-5B42-3D60-D093082B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8388FF-9999-E3B9-B58B-7C99DB406C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59355B-64B0-53BC-E1CD-11DCBB715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282DC12E-93A2-234D-BC44-CA10DEE046B5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EE3A7FF9-2555-7917-7807-623FE2CCEF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4262072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3C9E-7EA7-AF2F-262F-71D87962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86AA97-F563-1017-CAC8-9E383BC7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AFA2AD-57F3-C5EC-96D2-9EC1E1B0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4117D-9F8E-0FC3-E106-769DB38B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29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2CD661-5228-E57B-7560-6EAC082FAD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957B24-DB37-28C8-E5D8-8C2A4CE4D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F5C79C32-4F21-F522-2A57-3C2DA7A4A4A2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56F6C5EA-C4B5-BEB3-D2C6-95864F102714}"/>
              </a:ext>
            </a:extLst>
          </p:cNvPr>
          <p:cNvSpPr txBox="1">
            <a:spLocks/>
          </p:cNvSpPr>
          <p:nvPr/>
        </p:nvSpPr>
        <p:spPr>
          <a:xfrm>
            <a:off x="6096001" y="3950058"/>
            <a:ext cx="456000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Time requirements</a:t>
            </a:r>
          </a:p>
          <a:p>
            <a:pPr lvl="1"/>
            <a:r>
              <a:rPr lang="en-GB" sz="1600" dirty="0"/>
              <a:t>Colleagues will need to incorporate GenAI into their workflows at their own pace – the only way to see value is to use it</a:t>
            </a:r>
          </a:p>
          <a:p>
            <a:pPr lvl="1"/>
            <a:r>
              <a:rPr lang="en-GB" sz="1600" dirty="0"/>
              <a:t>Comprehensive training is the best way to get started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166671A-A4C5-18E0-6579-57E4FCE8E8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3515460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6640-F88A-106E-FD1C-A79A1B207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6B4F-106A-416A-7ED8-58B126B2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90F35-291B-9C0E-56E7-5C7A344F0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Three things to reme</a:t>
            </a:r>
            <a:r>
              <a:rPr lang="en-GB" dirty="0"/>
              <a:t>m</a:t>
            </a:r>
            <a:r>
              <a:rPr lang="en-DE" dirty="0"/>
              <a:t>ber from today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1781DD-A30D-2DF7-0E59-1C3DAF5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E12E1-2D31-C671-CC25-F484F928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040972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E389-1B85-6ED7-744B-2EA36212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653222-4C2A-B510-BB18-AD23DEE3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07463-5EE3-B82F-4428-85529E65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F832E-9150-068A-C450-3620B1D1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935D7-5FC3-D46B-3FDC-BBA9A13B32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80C428-88E0-CB61-D6F6-1CCF101C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28125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EADE-13E5-E50C-959C-BBA223B8B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0BFBE7-9611-BE43-A0AA-0C6B8806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349FF-144E-C4A9-D1EB-1455BDF0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14E62-5E53-144F-979B-F3288BB9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A07DCA-0DF7-6A71-92A5-93D341A1E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4CD162-085E-0C6D-A813-3F520FCA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53031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3098-E918-3573-5243-BBD38931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CC202-CFA6-F746-5C0D-654136D4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9B296-B1BF-B18C-5BCC-D08F95D7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6DD8-B95B-0FF1-9ACD-4113937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ECF99-70CE-F5F7-E4F0-A85925192C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507F2A-3E7F-3A92-D0BB-DBB8670CD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Training is essential - </a:t>
            </a:r>
            <a:r>
              <a:rPr lang="en-GB" sz="2000" dirty="0"/>
              <a:t>show employees how Copilot can make their specific roles easier and they will use it</a:t>
            </a: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8396636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46740-8AED-FAAD-04B7-9370ABB0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0F36E0-552E-5151-8120-0AEB27A4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en-US" smtClean="0"/>
              <a:t>34</a:t>
            </a:fld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281C60F-B2DB-340D-3501-9ED127456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59" y="2117012"/>
            <a:ext cx="3784602" cy="219372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E7581CD-354D-C467-FB12-693735022676}"/>
              </a:ext>
            </a:extLst>
          </p:cNvPr>
          <p:cNvSpPr txBox="1"/>
          <p:nvPr/>
        </p:nvSpPr>
        <p:spPr>
          <a:xfrm>
            <a:off x="590397" y="5001052"/>
            <a:ext cx="11230127" cy="954107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Let’s update your industry and build a more </a:t>
            </a:r>
            <a:b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desirable future – </a:t>
            </a:r>
            <a:r>
              <a:rPr lang="en-US" sz="2800" b="1" kern="100" dirty="0">
                <a:solidFill>
                  <a:schemeClr val="tx2"/>
                </a:solidFill>
                <a:effectLst/>
                <a:ea typeface="Calibri Light" panose="020F0302020204030204" pitchFamily="34" charset="0"/>
                <a:cs typeface="Calibri Light" panose="020F0302020204030204" pitchFamily="34" charset="0"/>
              </a:rPr>
              <a:t>together.</a:t>
            </a:r>
            <a:endParaRPr lang="en-DK" sz="2800" b="1" kern="100" dirty="0">
              <a:solidFill>
                <a:schemeClr val="tx2"/>
              </a:solidFill>
              <a:effectLst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6118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EBAQEBAQEBAQEBAQEBAQIAAAAAAAAAAwAAAAMAAAAA/////wQAMwwAAAAAAAAAAAAAIAD///////////////8AAAD///////////////8DAAAAAw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wUF4rQKIjtGg4OwlBC9GaUFAAAAAAADAAAAAwADAAAAAQADAAAAAAD///////8DAAAAAAD///////8DAAEA////////BAAAAAMAEAALdAvjiEVjbkuILdGfnWn/v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AUF4rQKIjtGg4OwlBC9GaUDRGF0YQAbAAAABExpbmtlZFNoYXBlRGF0YQAFAAAAAAACTmFtZQAZAAAATGlua2VkU2hhcGVzRGF0YVByb3BlcnR5ABBWZXJzaW9uAAAAAAAJTGFzdFdyaXRlAJhaJkeSAQAAAAEA/////8YAxgAAAAVfaWQAEAAAAAR0C+OIRWNuS4gt0Z+daf+/A0RhdGEAUwAAAAhQcmVzZW50YXRpb25TY2FubmVkRm9yTGlua2VkU2hhcGVzAAECTnVtYmVyRm9ybWF0U2VwYXJhdG9yTW9kZQAKAAAAQXV0b21hdGljAAACTmFtZQAkAAAATGlua2VkU2hhcGVQcmVzZW50YXRpb25TZXR0aW5nc0RhdGEAEFZlcnNpb24AAAAAAAlMYXN0V3JpdGUArFomR5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633673489393342"/>
  <p:tag name="EMPOWERCHARTSPROPERTIES_B_LENGTH" val="24576"/>
  <p:tag name="MIO_PRESENTATION_LANGUAGE" val="1033"/>
</p:tagLst>
</file>

<file path=ppt/theme/theme1.xml><?xml version="1.0" encoding="utf-8"?>
<a:theme xmlns:a="http://schemas.openxmlformats.org/drawingml/2006/main" name="Diconium">
  <a:themeElements>
    <a:clrScheme name="Diconium">
      <a:dk1>
        <a:srgbClr val="000000"/>
      </a:dk1>
      <a:lt1>
        <a:srgbClr val="FFFFFF"/>
      </a:lt1>
      <a:dk2>
        <a:srgbClr val="FF5000"/>
      </a:dk2>
      <a:lt2>
        <a:srgbClr val="E8E8E8"/>
      </a:lt2>
      <a:accent1>
        <a:srgbClr val="FF5000"/>
      </a:accent1>
      <a:accent2>
        <a:srgbClr val="FF834C"/>
      </a:accent2>
      <a:accent3>
        <a:srgbClr val="4C4C4C"/>
      </a:accent3>
      <a:accent4>
        <a:srgbClr val="808080"/>
      </a:accent4>
      <a:accent5>
        <a:srgbClr val="581F9D"/>
      </a:accent5>
      <a:accent6>
        <a:srgbClr val="003E96"/>
      </a:accent6>
      <a:hlink>
        <a:srgbClr val="4C4C4C"/>
      </a:hlink>
      <a:folHlink>
        <a:srgbClr val="4C4C4C"/>
      </a:folHlink>
    </a:clrScheme>
    <a:fontScheme name="diconium_2024">
      <a:majorFont>
        <a:latin typeface="Campton Book"/>
        <a:ea typeface=""/>
        <a:cs typeface=""/>
      </a:majorFont>
      <a:minorFont>
        <a:latin typeface="Campton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144000" tIns="144000" rIns="144000" bIns="144000" numCol="1" rtlCol="0" anchor="t" anchorCtr="0" compatLnSpc="1">
        <a:prstTxWarp prst="textNoShape">
          <a:avLst/>
        </a:prstTxWarp>
      </a:bodyPr>
      <a:lstStyle>
        <a:defPPr marL="108000" indent="-108000" algn="l" fontAlgn="base">
          <a:buClr>
            <a:schemeClr val="tx1"/>
          </a:buClr>
          <a:buFont typeface="Arial" panose="020B0604020202020204" pitchFamily="34" charset="0"/>
          <a:buChar char="•"/>
          <a:defRPr sz="1200" kern="800" spc="-8" dirty="0">
            <a:ea typeface="Inter" panose="020B0502030000000004" pitchFamily="34" charset="0"/>
            <a:cs typeface="Arial" panose="020B0604020202020204" pitchFamily="34" charset="0"/>
          </a:defRPr>
        </a:defPPr>
      </a:lstStyle>
    </a:spDef>
    <a:lnDef>
      <a:spPr>
        <a:ln w="9525" cmpd="sng">
          <a:solidFill>
            <a:schemeClr val="accent1"/>
          </a:solidFill>
          <a:prstDash val="solid"/>
          <a:tailEnd type="none" w="med" len="sm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or check.pptx" id="{453D85FD-CA0A-45CB-BD2F-6BAB790E0810}" vid="{3A46D830-F328-4333-834F-4B0AE040E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sponsible xmlns="e36b1fb8-91b5-458a-8bbc-bbb9e62b8ba9" xsi:nil="true"/>
    <Confidentiality xmlns="e36b1fb8-91b5-458a-8bbc-bbb9e62b8ba9">internal</Confidentiality>
    <Approvedby xmlns="e36b1fb8-91b5-458a-8bbc-bbb9e62b8ba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0C8943F6DB39A4A908E730BF9A790B9" ma:contentTypeVersion="11" ma:contentTypeDescription="Ein neues Dokument erstellen." ma:contentTypeScope="" ma:versionID="e16fe159fd8d4723b00121bbe2b2a8a3">
  <xsd:schema xmlns:xsd="http://www.w3.org/2001/XMLSchema" xmlns:xs="http://www.w3.org/2001/XMLSchema" xmlns:p="http://schemas.microsoft.com/office/2006/metadata/properties" xmlns:ns2="ed80e34e-b84f-4189-b044-85c357e4a2fb" xmlns:ns3="e36b1fb8-91b5-458a-8bbc-bbb9e62b8ba9" targetNamespace="http://schemas.microsoft.com/office/2006/metadata/properties" ma:root="true" ma:fieldsID="6cfdf5588312a8e884114640506afb73" ns2:_="" ns3:_="">
    <xsd:import namespace="ed80e34e-b84f-4189-b044-85c357e4a2fb"/>
    <xsd:import namespace="e36b1fb8-91b5-458a-8bbc-bbb9e62b8ba9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Confidentiality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Responsible" minOccurs="0"/>
                <xsd:element ref="ns3:Approvedb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0e34e-b84f-4189-b044-85c357e4a2f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b1fb8-91b5-458a-8bbc-bbb9e62b8ba9" elementFormDefault="qualified">
    <xsd:import namespace="http://schemas.microsoft.com/office/2006/documentManagement/types"/>
    <xsd:import namespace="http://schemas.microsoft.com/office/infopath/2007/PartnerControls"/>
    <xsd:element name="Confidentiality" ma:index="10" nillable="true" ma:displayName="Confidentiality" ma:default="internal" ma:format="Dropdown" ma:internalName="Confidentiality">
      <xsd:simpleType>
        <xsd:restriction base="dms:Choice">
          <xsd:enumeration value="public"/>
          <xsd:enumeration value="internal"/>
          <xsd:enumeration value="confidential"/>
          <xsd:enumeration value="strictly confidential"/>
        </xsd:restriction>
      </xsd:simple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Responsible" ma:index="15" nillable="true" ma:displayName="Responsible" ma:format="Dropdown" ma:internalName="Responsible">
      <xsd:simpleType>
        <xsd:restriction base="dms:Text">
          <xsd:maxLength value="255"/>
        </xsd:restriction>
      </xsd:simpleType>
    </xsd:element>
    <xsd:element name="Approvedby" ma:index="16" nillable="true" ma:displayName="Approved by" ma:format="Dropdown" ma:internalName="Approvedby">
      <xsd:simpleType>
        <xsd:restriction base="dms:Text">
          <xsd:maxLength value="255"/>
        </xsd:restriction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0104447-32D0-438F-B0B5-27BF4B9114F7}">
  <ds:schemaRefs>
    <ds:schemaRef ds:uri="http://schemas.openxmlformats.org/package/2006/metadata/core-properties"/>
    <ds:schemaRef ds:uri="http://www.w3.org/XML/1998/namespace"/>
    <ds:schemaRef ds:uri="http://purl.org/dc/elements/1.1/"/>
    <ds:schemaRef ds:uri="http://purl.org/dc/terms/"/>
    <ds:schemaRef ds:uri="http://schemas.microsoft.com/office/2006/documentManagement/types"/>
    <ds:schemaRef ds:uri="e36b1fb8-91b5-458a-8bbc-bbb9e62b8ba9"/>
    <ds:schemaRef ds:uri="http://schemas.microsoft.com/office/2006/metadata/properties"/>
    <ds:schemaRef ds:uri="http://schemas.microsoft.com/office/infopath/2007/PartnerControls"/>
    <ds:schemaRef ds:uri="ed80e34e-b84f-4189-b044-85c357e4a2fb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136EDEC-25C3-4051-81A7-F7788C1141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80e34e-b84f-4189-b044-85c357e4a2fb"/>
    <ds:schemaRef ds:uri="e36b1fb8-91b5-458a-8bbc-bbb9e62b8b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D38491-8DE7-45C2-B8DD-6025EEB207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Diconium</Template>
  <TotalTime>13839</TotalTime>
  <Words>2091</Words>
  <Application>Microsoft Macintosh PowerPoint</Application>
  <PresentationFormat>Widescreen</PresentationFormat>
  <Paragraphs>322</Paragraphs>
  <Slides>34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Campton Book</vt:lpstr>
      <vt:lpstr>Inter</vt:lpstr>
      <vt:lpstr>Calibri Light</vt:lpstr>
      <vt:lpstr>Aptos</vt:lpstr>
      <vt:lpstr>Symbol</vt:lpstr>
      <vt:lpstr>Arial</vt:lpstr>
      <vt:lpstr>Campton Light</vt:lpstr>
      <vt:lpstr>Diconium</vt:lpstr>
      <vt:lpstr>STIHL AI Teach In: Prompt Engineering Workshop</vt:lpstr>
      <vt:lpstr>What We’ll Cover</vt:lpstr>
      <vt:lpstr>Who Am I</vt:lpstr>
      <vt:lpstr>Overview of the Workshop</vt:lpstr>
      <vt:lpstr>Overview of the Workshop</vt:lpstr>
      <vt:lpstr>Overview of the Workshop</vt:lpstr>
      <vt:lpstr>Overview of the Workshop</vt:lpstr>
      <vt:lpstr>Overview of the Workshop</vt:lpstr>
      <vt:lpstr>Capabilities and Drawbacks</vt:lpstr>
      <vt:lpstr>Capabilities and Drawbacks</vt:lpstr>
      <vt:lpstr>Overview of the Browser</vt:lpstr>
      <vt:lpstr>Overview of the MS365 Copilot</vt:lpstr>
      <vt:lpstr>The Expert</vt:lpstr>
      <vt:lpstr>Starting with the Basics: The Expert</vt:lpstr>
      <vt:lpstr>Key Takeaways</vt:lpstr>
      <vt:lpstr>The Executive Assistant</vt:lpstr>
      <vt:lpstr>The Executive Assistant</vt:lpstr>
      <vt:lpstr>Key Takeaways</vt:lpstr>
      <vt:lpstr>The Research Assistant</vt:lpstr>
      <vt:lpstr>Hallucinations and Reasoning</vt:lpstr>
      <vt:lpstr>Key Takeaways</vt:lpstr>
      <vt:lpstr>Microsoft Copilot 365</vt:lpstr>
      <vt:lpstr>Microsoft Copilot 356</vt:lpstr>
      <vt:lpstr>Embedding AI in Employee Workflows</vt:lpstr>
      <vt:lpstr>Why do we still need Humans?</vt:lpstr>
      <vt:lpstr>Embedding AI in STIHL</vt:lpstr>
      <vt:lpstr>Embedding AI in STIHL</vt:lpstr>
      <vt:lpstr>Embedding AI in STIHL</vt:lpstr>
      <vt:lpstr>Embedding AI in STIHL</vt:lpstr>
      <vt:lpstr>Key Takeaways</vt:lpstr>
      <vt:lpstr>Key Takeaways</vt:lpstr>
      <vt:lpstr>Key Takeaways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Sinclair</dc:creator>
  <cp:lastModifiedBy>Neil Sinclair</cp:lastModifiedBy>
  <cp:revision>5</cp:revision>
  <dcterms:created xsi:type="dcterms:W3CDTF">2024-10-14T13:28:27Z</dcterms:created>
  <dcterms:modified xsi:type="dcterms:W3CDTF">2025-01-20T11:39:35Z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0x010100A0C8943F6DB39A4A908E730BF9A790B9</vt:lpwstr>
  </property>
  <property fmtid="{D5CDD505-2E9C-101B-9397-08002B2CF9AE}" pid="3" name="MediaServiceImageTags">
    <vt:lpwstr/>
  </property>
</Properties>
</file>